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457200"/>
            <a:ext cx="3200400" cy="3200400"/>
          </a:xfrm>
          <a:prstGeom prst="ellipse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182880"/>
            <a:ext cx="3200400" cy="32004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-91439"/>
            <a:ext cx="3200400" cy="320040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286000"/>
            <a:ext cx="4114800" cy="4572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4231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MONTE CARLO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0156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0FF88"/>
                </a:solidFill>
                <a:latin typeface="Calibri"/>
              </a:rPr>
              <a:t>Complete Technical Deep-Dive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8620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Options Pricing  ·  Monte Carlo Simulation  ·  GBM  ·  Black-Scholes Greeks
React Frontend  ·  Three.js 3D  ·  Chart.js Analytics  ·  Vercel Deployment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846320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1EFFA6"/>
          </a:solidFill>
          <a:ln w="1016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0FF88"/>
                </a:solidFill>
                <a:latin typeface="Courier New"/>
              </a:rPr>
              <a:t>QUANTITATIVE FINANCE + FULL 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217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ourier New"/>
              </a:rPr>
              <a:t>github.com/coolaeidek-creator/montecarlo_engine  ·  montecarloengine.vercel.app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92608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1EF2FF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0D4FF"/>
                </a:solidFill>
                <a:latin typeface="Courier New"/>
              </a:rPr>
              <a:t>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685800"/>
            <a:ext cx="22860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77240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What This Deck Covers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4813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From raw math to live website — every layer explained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920240"/>
            <a:ext cx="3842763" cy="192024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 w="1016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920240"/>
            <a:ext cx="3842763" cy="54864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35684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FF88"/>
                </a:solidFill>
                <a:latin typeface="Calibri"/>
              </a:rPr>
              <a:t>01  FINANCE BASICS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22576"/>
            <a:ext cx="35684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What is an Option?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87752"/>
            <a:ext cx="35684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Call vs 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52928"/>
            <a:ext cx="35684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Strike Price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118104"/>
            <a:ext cx="35684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Time to Maturity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383280"/>
            <a:ext cx="35684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Risk-free Rate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79" y="1920240"/>
            <a:ext cx="3842763" cy="192024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79" y="1920240"/>
            <a:ext cx="3842763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39" y="2011680"/>
            <a:ext cx="35684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02  THE MATH 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39" y="2322576"/>
            <a:ext cx="35684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Monte Carlo Method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39" y="2587752"/>
            <a:ext cx="35684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Geometric Brownian Motion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39" y="2852928"/>
            <a:ext cx="35684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GBM Formula &amp; Derivation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39" y="3118104"/>
            <a:ext cx="35684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Law of Large Numbers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39" y="3383280"/>
            <a:ext cx="35684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Discounting to Present Value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75318" y="1920240"/>
            <a:ext cx="3842763" cy="192024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 w="1016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75318" y="1920240"/>
            <a:ext cx="3842763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78" y="2011680"/>
            <a:ext cx="35684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855F7"/>
                </a:solidFill>
                <a:latin typeface="Calibri"/>
              </a:rPr>
              <a:t>03  BLACK-SCHOLES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78" y="2322576"/>
            <a:ext cx="35684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BS Model Overview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78" y="2587752"/>
            <a:ext cx="35684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d1 &amp; d2 derivation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78" y="2852928"/>
            <a:ext cx="35684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The 5 Greeks explained plainly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78" y="3118104"/>
            <a:ext cx="35684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When MC beats BS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78" y="3383280"/>
            <a:ext cx="35684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Put-Call Parity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0040" y="4023360"/>
            <a:ext cx="3842763" cy="192024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 w="1016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4023360"/>
            <a:ext cx="3842763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4114800"/>
            <a:ext cx="35684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97316"/>
                </a:solidFill>
                <a:latin typeface="Calibri"/>
              </a:rPr>
              <a:t>04  BACKEND / PYTHON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425696"/>
            <a:ext cx="35684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Project Structure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4690872"/>
            <a:ext cx="35684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Pydantic Models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4956048"/>
            <a:ext cx="35684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OptionPricer Class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5221224"/>
            <a:ext cx="35684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NumPy Vectorization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486400"/>
            <a:ext cx="35684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Confidence Intervals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97679" y="4023360"/>
            <a:ext cx="3842763" cy="192024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 w="1016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97679" y="4023360"/>
            <a:ext cx="3842763" cy="54864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34839" y="4114800"/>
            <a:ext cx="35684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C4899"/>
                </a:solidFill>
                <a:latin typeface="Calibri"/>
              </a:rPr>
              <a:t>05  FRONTEND / REACT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34839" y="4425696"/>
            <a:ext cx="35684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React 18 State &amp; Hooks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34839" y="4690872"/>
            <a:ext cx="35684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CDN-only Architecture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34839" y="4956048"/>
            <a:ext cx="35684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GSAP Animations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34839" y="5221224"/>
            <a:ext cx="35684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Three.js 3D Scene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34839" y="5486400"/>
            <a:ext cx="35684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Chart.js Analytics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275318" y="4023360"/>
            <a:ext cx="3842763" cy="192024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 w="1016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275318" y="4023360"/>
            <a:ext cx="3842763" cy="54864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412478" y="4114800"/>
            <a:ext cx="35684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FF88"/>
                </a:solidFill>
                <a:latin typeface="Calibri"/>
              </a:rPr>
              <a:t>06  DEPLOYMENT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78" y="4425696"/>
            <a:ext cx="35684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Git &amp; GitHub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12478" y="4690872"/>
            <a:ext cx="35684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Vercel Static Deploy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12478" y="4956048"/>
            <a:ext cx="35684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vercel.json Config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12478" y="5221224"/>
            <a:ext cx="35684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CI/CD Auto-deploy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12478" y="5486400"/>
            <a:ext cx="35684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Live URL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92608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1EFFA6"/>
          </a:solidFill>
          <a:ln w="1016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0FF88"/>
                </a:solidFill>
                <a:latin typeface="Courier New"/>
              </a:rPr>
              <a:t>FINANCE BASICS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685800"/>
            <a:ext cx="2286000" cy="36576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77240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What Is a Stock Option?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4813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A right — not obligation — to buy or sell a stock at a fixed price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920240"/>
            <a:ext cx="5303520" cy="1508760"/>
          </a:xfrm>
          <a:prstGeom prst="roundRect">
            <a:avLst>
              <a:gd name="adj" fmla="val 5000"/>
            </a:avLst>
          </a:prstGeom>
          <a:solidFill>
            <a:srgbClr val="002010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9933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FF88"/>
                </a:solidFill>
                <a:latin typeface="Calibri"/>
              </a:rPr>
              <a:t>Real-Life Analogy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28600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Imagine a house is listed for $500,000. You pay $5,000 to "lock in" that price for
3 months. If the house jumps to $600,000, you exercise your right and save $95,000.
If it drops, you walk away — losing only your $5,000 deposit.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920240"/>
            <a:ext cx="2834640" cy="237744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 w="1016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1920240"/>
            <a:ext cx="2834640" cy="54864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201168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FF88"/>
                </a:solidFill>
                <a:latin typeface="Calibri"/>
              </a:rPr>
              <a:t>CALL OPTION  —  Right to BUY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2322576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You profit when stock goes 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258775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Pay a premium upfront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285292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Max loss = premium paid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311810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Unlimited upside potential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338328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Used when you're BULLISH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60" y="1920240"/>
            <a:ext cx="2834640" cy="237744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 w="1016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52560" y="1920240"/>
            <a:ext cx="283464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9720" y="201168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97316"/>
                </a:solidFill>
                <a:latin typeface="Calibri"/>
              </a:rPr>
              <a:t>PUT OPTION  —  Right to SELL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20" y="2322576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You profit when stock goes DOWN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20" y="258775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Pay a premium upfront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285292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Max loss = premium paid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20" y="311810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Downside is protected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20" y="338328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Used when you're BEARISH or hedging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3611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Key Terms at a Glance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39319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• Strike Price (K):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06040" y="39319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The agreed price at which you can buy/sell the stock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22452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• Premium: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06040" y="4224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The cost of buying the option contract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451713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• Expiry / Maturity (T):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06040" y="451713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The deadline by which you must exercise the option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480974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• In-The-Money (ITM):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06040" y="480974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The option has intrinsic value right now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510235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• Out-of-The-Money (OTM):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06040" y="51023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The option has no intrinsic value — only hope!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92608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1EF2FF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0D4FF"/>
                </a:solidFill>
                <a:latin typeface="Courier New"/>
              </a:rPr>
              <a:t>THE MATH ENGINE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685800"/>
            <a:ext cx="22860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77240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Monte Carlo Simulation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4813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Pricing options by simulating thousands of random futures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920240"/>
            <a:ext cx="5394960" cy="1371600"/>
          </a:xfrm>
          <a:prstGeom prst="roundRect">
            <a:avLst>
              <a:gd name="adj" fmla="val 5000"/>
            </a:avLst>
          </a:prstGeom>
          <a:solidFill>
            <a:srgbClr val="001025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9933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The 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286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Roll a dice 50,000 times. Record every outcome. Average them.
That average, discounted back to today, is your option price.
More rolls = more accurate. This is Monte Carlo.</a:t>
            </a:r>
          </a:p>
        </p:txBody>
      </p:sp>
      <p:sp>
        <p:nvSpPr>
          <p:cNvPr id="9" name="Oval 8"/>
          <p:cNvSpPr/>
          <p:nvPr/>
        </p:nvSpPr>
        <p:spPr>
          <a:xfrm>
            <a:off x="6035040" y="1956816"/>
            <a:ext cx="310896" cy="310896"/>
          </a:xfrm>
          <a:prstGeom prst="ellipse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0" y="1956816"/>
            <a:ext cx="310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30712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1920240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Generate random shock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167128"/>
            <a:ext cx="5577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Draw Z ~ N(0,1) using Box-Muller transform</a:t>
            </a:r>
          </a:p>
        </p:txBody>
      </p:sp>
      <p:sp>
        <p:nvSpPr>
          <p:cNvPr id="13" name="Oval 12"/>
          <p:cNvSpPr/>
          <p:nvPr/>
        </p:nvSpPr>
        <p:spPr>
          <a:xfrm>
            <a:off x="6035040" y="2523744"/>
            <a:ext cx="310896" cy="310896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0" y="2523744"/>
            <a:ext cx="310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30712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487168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Simulate future price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2734056"/>
            <a:ext cx="5577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Apply GBM formula to get terminal stock price S_T</a:t>
            </a:r>
          </a:p>
        </p:txBody>
      </p:sp>
      <p:sp>
        <p:nvSpPr>
          <p:cNvPr id="17" name="Oval 16"/>
          <p:cNvSpPr/>
          <p:nvPr/>
        </p:nvSpPr>
        <p:spPr>
          <a:xfrm>
            <a:off x="6035040" y="3090672"/>
            <a:ext cx="310896" cy="310896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0" y="3090672"/>
            <a:ext cx="310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30712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3054096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Calculate payoff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3300984"/>
            <a:ext cx="5577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Call: max(S_T - K, 0)   Put: max(K - S_T, 0)</a:t>
            </a:r>
          </a:p>
        </p:txBody>
      </p:sp>
      <p:sp>
        <p:nvSpPr>
          <p:cNvPr id="21" name="Oval 20"/>
          <p:cNvSpPr/>
          <p:nvPr/>
        </p:nvSpPr>
        <p:spPr>
          <a:xfrm>
            <a:off x="6035040" y="3657600"/>
            <a:ext cx="310896" cy="310896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35040" y="3657600"/>
            <a:ext cx="310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30712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3621024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Discount to today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3867912"/>
            <a:ext cx="5577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Multiply payoff by e^(-rT) — the time-value factor</a:t>
            </a:r>
          </a:p>
        </p:txBody>
      </p:sp>
      <p:sp>
        <p:nvSpPr>
          <p:cNvPr id="25" name="Oval 24"/>
          <p:cNvSpPr/>
          <p:nvPr/>
        </p:nvSpPr>
        <p:spPr>
          <a:xfrm>
            <a:off x="6035040" y="4224528"/>
            <a:ext cx="310896" cy="310896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35040" y="4224528"/>
            <a:ext cx="310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30712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19088" y="4187952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Average all payoffs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19088" y="4434840"/>
            <a:ext cx="5577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E[Payoff] over N paths = your Monte Carlo price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1480" y="3401568"/>
            <a:ext cx="5394960" cy="50292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/>
            <a:r>
              <a:rPr sz="1300" b="1">
                <a:solidFill>
                  <a:srgbClr val="00D4FF"/>
                </a:solidFill>
                <a:latin typeface="Courier New"/>
              </a:rPr>
              <a:t>Price  =  e^(-rT)  ×  (1/N)  ×  Σ  payoff_i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400507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Why Not Just Use a Formula?</a:t>
            </a:r>
          </a:p>
        </p:txBody>
      </p:sp>
      <p:sp>
        <p:nvSpPr>
          <p:cNvPr id="31" name="Oval 30"/>
          <p:cNvSpPr/>
          <p:nvPr/>
        </p:nvSpPr>
        <p:spPr>
          <a:xfrm>
            <a:off x="411480" y="4379976"/>
            <a:ext cx="91440" cy="91440"/>
          </a:xfrm>
          <a:prstGeom prst="ellipse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6072" y="4315968"/>
            <a:ext cx="52303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Closed-form formulas (Black-Scholes) assume too many perfect conditions</a:t>
            </a:r>
          </a:p>
        </p:txBody>
      </p:sp>
      <p:sp>
        <p:nvSpPr>
          <p:cNvPr id="33" name="Oval 32"/>
          <p:cNvSpPr/>
          <p:nvPr/>
        </p:nvSpPr>
        <p:spPr>
          <a:xfrm>
            <a:off x="411480" y="4709160"/>
            <a:ext cx="91440" cy="91440"/>
          </a:xfrm>
          <a:prstGeom prst="ellipse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6072" y="4645152"/>
            <a:ext cx="52303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Monte Carlo handles path-dependent &amp; exotic options easily</a:t>
            </a:r>
          </a:p>
        </p:txBody>
      </p:sp>
      <p:sp>
        <p:nvSpPr>
          <p:cNvPr id="35" name="Oval 34"/>
          <p:cNvSpPr/>
          <p:nvPr/>
        </p:nvSpPr>
        <p:spPr>
          <a:xfrm>
            <a:off x="411480" y="5038344"/>
            <a:ext cx="91440" cy="91440"/>
          </a:xfrm>
          <a:prstGeom prst="ellipse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6072" y="4974336"/>
            <a:ext cx="52303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More flexible — just change the payoff function for any option type</a:t>
            </a:r>
          </a:p>
        </p:txBody>
      </p:sp>
      <p:sp>
        <p:nvSpPr>
          <p:cNvPr id="37" name="Oval 36"/>
          <p:cNvSpPr/>
          <p:nvPr/>
        </p:nvSpPr>
        <p:spPr>
          <a:xfrm>
            <a:off x="411480" y="5367528"/>
            <a:ext cx="91440" cy="91440"/>
          </a:xfrm>
          <a:prstGeom prst="ellipse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76072" y="5303520"/>
            <a:ext cx="52303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Uncertainty is measurable: standard error tells you how accurate you are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92608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1EF2FF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0D4FF"/>
                </a:solidFill>
                <a:latin typeface="Courier New"/>
              </a:rPr>
              <a:t>THE MATH ENGINE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685800"/>
            <a:ext cx="22860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77240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Geometric Brownian Motion (GBM)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4813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How stocks move — modelled mathematically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874519"/>
            <a:ext cx="11338560" cy="54864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/>
            <a:r>
              <a:rPr sz="1300" b="1">
                <a:solidFill>
                  <a:srgbClr val="00FF88"/>
                </a:solidFill>
                <a:latin typeface="Courier New"/>
              </a:rPr>
              <a:t>S_T  =  S₀ × exp( (r - ½σ²)·T  +  σ·√T·Z 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2606040"/>
            <a:ext cx="640080" cy="292608"/>
          </a:xfrm>
          <a:prstGeom prst="roundRect">
            <a:avLst>
              <a:gd name="adj" fmla="val 10000"/>
            </a:avLst>
          </a:prstGeom>
          <a:solidFill>
            <a:srgbClr val="0A0F1E"/>
          </a:solidFill>
          <a:ln w="1016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2606040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FF88"/>
                </a:solidFill>
                <a:latin typeface="Courier New"/>
              </a:rPr>
              <a:t>S₀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6060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Current stock price (Spot Price)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2606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e.g. $100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2953512"/>
            <a:ext cx="640080" cy="292608"/>
          </a:xfrm>
          <a:prstGeom prst="roundRect">
            <a:avLst>
              <a:gd name="adj" fmla="val 10000"/>
            </a:avLst>
          </a:prstGeom>
          <a:solidFill>
            <a:srgbClr val="0A0F1E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953512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4FF"/>
                </a:solidFill>
                <a:latin typeface="Courier New"/>
              </a:rPr>
              <a:t>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95351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Risk-free interest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295351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e.g. 5%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300984"/>
            <a:ext cx="640080" cy="292608"/>
          </a:xfrm>
          <a:prstGeom prst="roundRect">
            <a:avLst>
              <a:gd name="adj" fmla="val 10000"/>
            </a:avLst>
          </a:prstGeom>
          <a:solidFill>
            <a:srgbClr val="0A0F1E"/>
          </a:solidFill>
          <a:ln w="1016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3300984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A855F7"/>
                </a:solidFill>
                <a:latin typeface="Courier New"/>
              </a:rPr>
              <a:t>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30098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Volatility — how wild the stock moves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330098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e.g. 20%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3648456"/>
            <a:ext cx="640080" cy="292608"/>
          </a:xfrm>
          <a:prstGeom prst="roundRect">
            <a:avLst>
              <a:gd name="adj" fmla="val 10000"/>
            </a:avLst>
          </a:prstGeom>
          <a:solidFill>
            <a:srgbClr val="0A0F1E"/>
          </a:solidFill>
          <a:ln w="1016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3648456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97316"/>
                </a:solidFill>
                <a:latin typeface="Courier New"/>
              </a:rPr>
              <a:t>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364845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Time to maturity (in years)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364845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e.g. 1.0 yr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3995928"/>
            <a:ext cx="640080" cy="292608"/>
          </a:xfrm>
          <a:prstGeom prst="roundRect">
            <a:avLst>
              <a:gd name="adj" fmla="val 10000"/>
            </a:avLst>
          </a:prstGeom>
          <a:solidFill>
            <a:srgbClr val="0A0F1E"/>
          </a:solidFill>
          <a:ln w="1016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3995928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C4899"/>
                </a:solidFill>
                <a:latin typeface="Courier New"/>
              </a:rPr>
              <a:t>Z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39959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Random shock drawn from Normal dist N(0,1)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0" y="399592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New per sim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480" y="4343400"/>
            <a:ext cx="640080" cy="292608"/>
          </a:xfrm>
          <a:prstGeom prst="roundRect">
            <a:avLst>
              <a:gd name="adj" fmla="val 10000"/>
            </a:avLst>
          </a:prstGeom>
          <a:solidFill>
            <a:srgbClr val="0A0F1E"/>
          </a:solidFill>
          <a:ln w="1016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4343400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4A3B8"/>
                </a:solidFill>
                <a:latin typeface="Courier New"/>
              </a:rPr>
              <a:t>½σ²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43434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Itô correction — prevents upward bias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0" y="4343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Math trick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1480" y="4690872"/>
            <a:ext cx="640080" cy="292608"/>
          </a:xfrm>
          <a:prstGeom prst="roundRect">
            <a:avLst>
              <a:gd name="adj" fmla="val 10000"/>
            </a:avLst>
          </a:prstGeom>
          <a:solidFill>
            <a:srgbClr val="0A0F1E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4690872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ourier New"/>
              </a:rPr>
              <a:t>exp(·)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" y="469087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Ensures price can never go negative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0" y="46908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Stock can't = -$5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" y="51206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Two Forces That Drive Stock Prices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11480" y="5440680"/>
            <a:ext cx="5486400" cy="123444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1480" y="5440680"/>
            <a:ext cx="548640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553212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DRIFT  →  (r - ½σ²)·T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843016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Deterministic upward trend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108192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Based on risk-free rate 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373368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The ½σ² removes Itô bias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6638544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This is the 'expected direction'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035040" y="5440680"/>
            <a:ext cx="5577840" cy="123444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 w="1016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035040" y="5440680"/>
            <a:ext cx="5577840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72200" y="553212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855F7"/>
                </a:solidFill>
                <a:latin typeface="Calibri"/>
              </a:rPr>
              <a:t>DIFFUSION  →  σ·√T·Z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72200" y="5843016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Random component — unpredictability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72200" y="610819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Higher σ = wilder price swings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72200" y="6373368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√T: uncertainty grows with time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72200" y="6638544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Z is freshly random each simulation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92608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1EF2FF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0D4FF"/>
                </a:solidFill>
                <a:latin typeface="Courier New"/>
              </a:rPr>
              <a:t>THE MATH ENGINE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685800"/>
            <a:ext cx="22860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77240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Generating Randomness &amp; Measuring Accuracy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4813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Box-Muller transform · Standard Error · Confidence Intervals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920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FF88"/>
                </a:solidFill>
                <a:latin typeface="Calibri"/>
              </a:rPr>
              <a:t>Box-Muller Transform — Making Normal Random Numbers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2402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Computers generate uniform random numbers (0 to 1). We need bell-curve (Normal) numbers.
Box-Muller converts two uniform numbers (U₁, U₂) into one Normal number Z: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2743200"/>
            <a:ext cx="5029200" cy="475488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/>
            <a:r>
              <a:rPr sz="1300" b="1">
                <a:solidFill>
                  <a:srgbClr val="00FF88"/>
                </a:solidFill>
                <a:latin typeface="Courier New"/>
              </a:rPr>
              <a:t>Z  =  √(-2·ln U₁)  ×  cos(2π·U₂)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3310128"/>
            <a:ext cx="5029200" cy="1097280"/>
          </a:xfrm>
          <a:prstGeom prst="rect">
            <a:avLst/>
          </a:prstGeom>
          <a:solidFill>
            <a:srgbClr val="050D1E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l"/>
            <a:r>
              <a:rPr sz="1000">
                <a:solidFill>
                  <a:srgbClr val="00FF88"/>
                </a:solidFill>
                <a:latin typeface="Courier New"/>
              </a:rPr>
              <a:t>function randn() {
  let u = 0, v = 0;
  while (!u) u = Math.random();
  while (!v) v = Math.random();
  return Math.sqrt(-2*Math.log(u)) * Math.cos(2*Math.PI*v);
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192024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  <a:latin typeface="Calibri"/>
              </a:rPr>
              <a:t>How Accurate Is Our Price? — Standard Error</a:t>
            </a:r>
          </a:p>
        </p:txBody>
      </p:sp>
      <p:sp>
        <p:nvSpPr>
          <p:cNvPr id="11" name="Oval 10"/>
          <p:cNvSpPr/>
          <p:nvPr/>
        </p:nvSpPr>
        <p:spPr>
          <a:xfrm>
            <a:off x="6035040" y="2331720"/>
            <a:ext cx="91440" cy="91440"/>
          </a:xfrm>
          <a:prstGeom prst="ellipse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99632" y="2267712"/>
            <a:ext cx="54132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Run N simulations → get N payoff values</a:t>
            </a:r>
          </a:p>
        </p:txBody>
      </p:sp>
      <p:sp>
        <p:nvSpPr>
          <p:cNvPr id="13" name="Oval 12"/>
          <p:cNvSpPr/>
          <p:nvPr/>
        </p:nvSpPr>
        <p:spPr>
          <a:xfrm>
            <a:off x="6035040" y="2660904"/>
            <a:ext cx="91440" cy="91440"/>
          </a:xfrm>
          <a:prstGeom prst="ellipse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99632" y="2596896"/>
            <a:ext cx="54132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Average them → that's your price estimate</a:t>
            </a:r>
          </a:p>
        </p:txBody>
      </p:sp>
      <p:sp>
        <p:nvSpPr>
          <p:cNvPr id="15" name="Oval 14"/>
          <p:cNvSpPr/>
          <p:nvPr/>
        </p:nvSpPr>
        <p:spPr>
          <a:xfrm>
            <a:off x="6035040" y="2990088"/>
            <a:ext cx="91440" cy="91440"/>
          </a:xfrm>
          <a:prstGeom prst="ellipse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9632" y="2926080"/>
            <a:ext cx="54132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Standard deviation of payoffs ÷ √N = Standard Error</a:t>
            </a:r>
          </a:p>
        </p:txBody>
      </p:sp>
      <p:sp>
        <p:nvSpPr>
          <p:cNvPr id="17" name="Oval 16"/>
          <p:cNvSpPr/>
          <p:nvPr/>
        </p:nvSpPr>
        <p:spPr>
          <a:xfrm>
            <a:off x="6035040" y="3319272"/>
            <a:ext cx="91440" cy="91440"/>
          </a:xfrm>
          <a:prstGeom prst="ellipse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99632" y="3255264"/>
            <a:ext cx="54132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More simulations = smaller error = more confidence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35040" y="3401568"/>
            <a:ext cx="5577840" cy="45720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/>
            <a:r>
              <a:rPr sz="1300" b="1">
                <a:solidFill>
                  <a:srgbClr val="F97316"/>
                </a:solidFill>
                <a:latin typeface="Courier New"/>
              </a:rPr>
              <a:t>SE  =  std(payoffs) / √N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3977639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95% Confidence Interval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4251960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We are 95% confident the true price lies between: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35040" y="4572000"/>
            <a:ext cx="5577840" cy="45720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/>
            <a:r>
              <a:rPr sz="1300" b="1">
                <a:solidFill>
                  <a:srgbClr val="00D4FF"/>
                </a:solidFill>
                <a:latin typeface="Courier New"/>
              </a:rPr>
              <a:t>CI  =  [ Price - 1.96×SE ,  Price + 1.96×SE 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512064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1.96 comes from the Normal distribution — covers 95% of outcomes.
With 50,000 simulations our SE is typically &lt; $0.03.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449884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Law of Large Numbers in Action</a:t>
            </a:r>
          </a:p>
        </p:txBody>
      </p:sp>
      <p:sp>
        <p:nvSpPr>
          <p:cNvPr id="25" name="Oval 24"/>
          <p:cNvSpPr/>
          <p:nvPr/>
        </p:nvSpPr>
        <p:spPr>
          <a:xfrm>
            <a:off x="411480" y="4864608"/>
            <a:ext cx="91440" cy="91440"/>
          </a:xfrm>
          <a:prstGeom prst="ellipse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6072" y="4800600"/>
            <a:ext cx="4864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1,000 paths  → rough estimate, SE ≈ $0.25</a:t>
            </a:r>
          </a:p>
        </p:txBody>
      </p:sp>
      <p:sp>
        <p:nvSpPr>
          <p:cNvPr id="27" name="Oval 26"/>
          <p:cNvSpPr/>
          <p:nvPr/>
        </p:nvSpPr>
        <p:spPr>
          <a:xfrm>
            <a:off x="411480" y="5193792"/>
            <a:ext cx="91440" cy="91440"/>
          </a:xfrm>
          <a:prstGeom prst="ellipse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6072" y="5129784"/>
            <a:ext cx="4864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10,000 paths → good estimate, SE ≈ $0.08</a:t>
            </a:r>
          </a:p>
        </p:txBody>
      </p:sp>
      <p:sp>
        <p:nvSpPr>
          <p:cNvPr id="29" name="Oval 28"/>
          <p:cNvSpPr/>
          <p:nvPr/>
        </p:nvSpPr>
        <p:spPr>
          <a:xfrm>
            <a:off x="411480" y="5522976"/>
            <a:ext cx="91440" cy="91440"/>
          </a:xfrm>
          <a:prstGeom prst="ellipse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6072" y="5458968"/>
            <a:ext cx="4864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50,000 paths → precise,      SE ≈ $0.03</a:t>
            </a:r>
          </a:p>
        </p:txBody>
      </p:sp>
      <p:sp>
        <p:nvSpPr>
          <p:cNvPr id="31" name="Oval 30"/>
          <p:cNvSpPr/>
          <p:nvPr/>
        </p:nvSpPr>
        <p:spPr>
          <a:xfrm>
            <a:off x="411480" y="5852160"/>
            <a:ext cx="91440" cy="91440"/>
          </a:xfrm>
          <a:prstGeom prst="ellipse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6072" y="5788152"/>
            <a:ext cx="4864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100,000 paths→ very precise, SE ≈ $0.02</a:t>
            </a:r>
          </a:p>
        </p:txBody>
      </p:sp>
      <p:sp>
        <p:nvSpPr>
          <p:cNvPr id="33" name="Oval 32"/>
          <p:cNvSpPr/>
          <p:nvPr/>
        </p:nvSpPr>
        <p:spPr>
          <a:xfrm>
            <a:off x="411480" y="6181344"/>
            <a:ext cx="91440" cy="91440"/>
          </a:xfrm>
          <a:prstGeom prst="ellipse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6072" y="6117336"/>
            <a:ext cx="4864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As N → ∞, MC price converges to true price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92608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C673FF"/>
          </a:solidFill>
          <a:ln w="1016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A855F7"/>
                </a:solidFill>
                <a:latin typeface="Courier New"/>
              </a:rPr>
              <a:t>BLACK-SCHOLES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685800"/>
            <a:ext cx="2286000" cy="3657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77240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Black-Scholes &amp; The Option Greeks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4813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Analytical formulas vs Monte Carlo — and what Δ Γ Θ ν really mean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874519"/>
            <a:ext cx="11338560" cy="475488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/>
            <a:r>
              <a:rPr sz="1300" b="1">
                <a:solidFill>
                  <a:srgbClr val="A855F7"/>
                </a:solidFill>
                <a:latin typeface="Courier New"/>
              </a:rPr>
              <a:t>d₁ = [ln(S/K) + (r + ½σ²)T] / (σ√T)         d₂ = d₁ - σ√T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2487168"/>
            <a:ext cx="11338560" cy="987552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 w="1016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2487168"/>
            <a:ext cx="11338560" cy="54864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578608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FF88"/>
                </a:solidFill>
                <a:latin typeface="Calibri"/>
              </a:rPr>
              <a:t>Δ  DELTA  —  If stock goes up $1, how much does my option gain?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89504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Call Delta = 0.64 → option gains $0.64 per $1 stock move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154680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Put Delta = -0.36 → option loses $0.36 per $1 stock move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19856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Atm option has delta ≈ 0.5  |  Deep ITM ≈ 1.0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3538728"/>
            <a:ext cx="11338560" cy="987552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3538728"/>
            <a:ext cx="1133856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630168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Γ  GAMMA  —  How fast is Delta itself changing?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941064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High gamma = option is very sensitive (near expiry, near strike)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206240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Like acceleration vs speed — delta is speed, gamma is acceleration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471416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ATM options have highest gamma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4590288"/>
            <a:ext cx="11338560" cy="987552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 w="1016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" y="4590288"/>
            <a:ext cx="1133856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681728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97316"/>
                </a:solidFill>
                <a:latin typeface="Calibri"/>
              </a:rPr>
              <a:t>Θ  THETA  —  How much value does the option lose every single day?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992624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Options are "melting ice cubes" — time kills their value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257800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Theta = -$0.017 means you lose $0.017 of value overnight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522976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Sellers love theta; buyers must be right fast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" y="5641848"/>
            <a:ext cx="11338560" cy="987552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 w="1016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1480" y="5641848"/>
            <a:ext cx="11338560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733288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855F7"/>
                </a:solidFill>
                <a:latin typeface="Calibri"/>
              </a:rPr>
              <a:t>ν  VEGA  —  If volatility spikes 1%, how much does my option gain?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044184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Vega = $0.38 → option gains $0.38 if vol goes from 20% to 21%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309360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High vega = option is very sensitive to market panic or calm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574536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Buy options before earnings (vol expected to spike)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92608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1EFFA6"/>
          </a:solidFill>
          <a:ln w="1016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0FF88"/>
                </a:solidFill>
                <a:latin typeface="Courier New"/>
              </a:rPr>
              <a:t>FINANCIAL MATH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685800"/>
            <a:ext cx="2286000" cy="36576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77240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Put-Call Parity — The Sanity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4813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A fundamental no-arbitrage relationship between calls and puts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1874519"/>
            <a:ext cx="8229600" cy="566928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/>
            <a:r>
              <a:rPr sz="1300" b="1">
                <a:solidFill>
                  <a:srgbClr val="00FF88"/>
                </a:solidFill>
                <a:latin typeface="Courier New"/>
              </a:rPr>
              <a:t>C - P  =  S₀ - K · e^(-rT)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606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In Plain English: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926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(Call Price) minus (Put Price) must equal (Spot Price) minus (Present Value of Strike).
If this breaks, traders can make risk-free profit — so the market forces it to hold.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3493008"/>
            <a:ext cx="5577840" cy="160020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 w="1016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3493008"/>
            <a:ext cx="5577840" cy="54864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584448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FF88"/>
                </a:solidFill>
                <a:latin typeface="Calibri"/>
              </a:rPr>
              <a:t>LEFT SIDE:  C - 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895344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C = Call option price (right to buy)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16052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P = Put option price (right to sell)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425696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The difference between the two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69087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Should equal the right side exactly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3493008"/>
            <a:ext cx="5577840" cy="160020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5080" y="3493008"/>
            <a:ext cx="557784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3584448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RIGHT SIDE:  S₀ - K·e^(-rT)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895344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S₀ = Current stock price today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16052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K = Strike price of both options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425696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e^(-rT) = discount factor (time value of money)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69087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Present value of owning the stock vs paying strike later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523036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Why We Check It:</a:t>
            </a:r>
          </a:p>
        </p:txBody>
      </p:sp>
      <p:sp>
        <p:nvSpPr>
          <p:cNvPr id="24" name="Oval 23"/>
          <p:cNvSpPr/>
          <p:nvPr/>
        </p:nvSpPr>
        <p:spPr>
          <a:xfrm>
            <a:off x="411480" y="5596128"/>
            <a:ext cx="91440" cy="91440"/>
          </a:xfrm>
          <a:prstGeom prst="ellipse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6072" y="5532120"/>
            <a:ext cx="108082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Our Monte Carlo uses independent simulations for call and put — parity validates both are correct</a:t>
            </a:r>
          </a:p>
        </p:txBody>
      </p:sp>
      <p:sp>
        <p:nvSpPr>
          <p:cNvPr id="26" name="Oval 25"/>
          <p:cNvSpPr/>
          <p:nvPr/>
        </p:nvSpPr>
        <p:spPr>
          <a:xfrm>
            <a:off x="411480" y="5925312"/>
            <a:ext cx="91440" cy="91440"/>
          </a:xfrm>
          <a:prstGeom prst="ellipse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6072" y="5861304"/>
            <a:ext cx="108082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Difference &lt; $0.15 = simulation is accurate   |   Difference &gt; $0.30 = need more simulations</a:t>
            </a:r>
          </a:p>
        </p:txBody>
      </p:sp>
      <p:sp>
        <p:nvSpPr>
          <p:cNvPr id="28" name="Oval 27"/>
          <p:cNvSpPr/>
          <p:nvPr/>
        </p:nvSpPr>
        <p:spPr>
          <a:xfrm>
            <a:off x="411480" y="6254496"/>
            <a:ext cx="91440" cy="91440"/>
          </a:xfrm>
          <a:prstGeom prst="ellipse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6072" y="6190488"/>
            <a:ext cx="108082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This is a standard test used in professional quantitative finance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92608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FF9134"/>
          </a:solidFill>
          <a:ln w="1016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97316"/>
                </a:solidFill>
                <a:latin typeface="Courier New"/>
              </a:rPr>
              <a:t>BACKEND — PYTHON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685800"/>
            <a:ext cx="228600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77240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Python Backend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4813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Clean separation of concerns: models → simulator → pricer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901952"/>
            <a:ext cx="5029200" cy="2560320"/>
          </a:xfrm>
          <a:prstGeom prst="rect">
            <a:avLst/>
          </a:prstGeom>
          <a:solidFill>
            <a:srgbClr val="050D1E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l"/>
            <a:r>
              <a:rPr sz="1000">
                <a:solidFill>
                  <a:srgbClr val="00FF88"/>
                </a:solidFill>
                <a:latin typeface="Courier New"/>
              </a:rPr>
              <a:t>montecarlo_engine/
├── engine/
│   ├── models.py      # Data structures (Pydantic)
│   ├── random.py      # N(0,1) random generation
│   ├── simulator.py   # GBM terminal price simulation
│   ├── payoff.py      # Call / Put payoff calculation
│   └── pricer.py      # OptionPricer class (orchestrator)
├── app/
│   └── main.py        # Entry point — runs &amp; prints results
├── index.html         # Full frontend (React + Three.js)
└── vercel.json        # Deployment config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0" y="1901952"/>
            <a:ext cx="6126480" cy="1298448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 w="1016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0" y="1901952"/>
            <a:ext cx="6126480" cy="54864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06440" y="1993392"/>
            <a:ext cx="5852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FF88"/>
                </a:solidFill>
                <a:latin typeface="Calibri"/>
              </a:rPr>
              <a:t>models.py — Pydantic Data Classes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06440" y="2304288"/>
            <a:ext cx="5852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MarketEnvironment: spot, rate, volatility, maturity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2569464"/>
            <a:ext cx="5852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OptionContract: strike price, option type (call/put)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6440" y="2834640"/>
            <a:ext cx="5852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Pydantic validates inputs automatically — no bad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06440" y="3099816"/>
            <a:ext cx="5852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Type hints make code self-documenting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0" y="3291840"/>
            <a:ext cx="6126480" cy="1298448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0" y="3291840"/>
            <a:ext cx="612648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06440" y="3383280"/>
            <a:ext cx="5852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simulator.py — GBM in NumPy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06440" y="3694176"/>
            <a:ext cx="5852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simulate_terminal_prices(market, shocks)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6440" y="3959352"/>
            <a:ext cx="5852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Takes N(0,1) shocks, applies GBM formula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06440" y="4224528"/>
            <a:ext cx="5852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NumPy vectorized — runs 50k sims in milliseconds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06440" y="4489704"/>
            <a:ext cx="5852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Returns array of N terminal prices S_T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0" y="4681728"/>
            <a:ext cx="6126480" cy="1298448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 w="1016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0" y="4681728"/>
            <a:ext cx="6126480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06440" y="4773168"/>
            <a:ext cx="5852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855F7"/>
                </a:solidFill>
                <a:latin typeface="Calibri"/>
              </a:rPr>
              <a:t>pricer.py — The Orchestrator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06440" y="5084064"/>
            <a:ext cx="5852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OptionPricer class with price() method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06440" y="5349240"/>
            <a:ext cx="5852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Calls random → simulator → payoff in sequence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06440" y="5614416"/>
            <a:ext cx="5852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Discounts payoffs by e^(-rT)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06440" y="5879592"/>
            <a:ext cx="5852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Returns price, std_error, confidence_interval dict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457200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Key Python Concepts Used</a:t>
            </a:r>
          </a:p>
        </p:txBody>
      </p:sp>
      <p:sp>
        <p:nvSpPr>
          <p:cNvPr id="29" name="Oval 28"/>
          <p:cNvSpPr/>
          <p:nvPr/>
        </p:nvSpPr>
        <p:spPr>
          <a:xfrm>
            <a:off x="411480" y="4928616"/>
            <a:ext cx="91440" cy="91440"/>
          </a:xfrm>
          <a:prstGeom prst="ellipse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6072" y="4864608"/>
            <a:ext cx="4773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Pydantic — runtime data validation &amp; type safety</a:t>
            </a:r>
          </a:p>
        </p:txBody>
      </p:sp>
      <p:sp>
        <p:nvSpPr>
          <p:cNvPr id="31" name="Oval 30"/>
          <p:cNvSpPr/>
          <p:nvPr/>
        </p:nvSpPr>
        <p:spPr>
          <a:xfrm>
            <a:off x="411480" y="5257800"/>
            <a:ext cx="91440" cy="91440"/>
          </a:xfrm>
          <a:prstGeom prst="ellipse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6072" y="5193792"/>
            <a:ext cx="4773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NumPy — vectorized math (50k ops in one line)</a:t>
            </a:r>
          </a:p>
        </p:txBody>
      </p:sp>
      <p:sp>
        <p:nvSpPr>
          <p:cNvPr id="33" name="Oval 32"/>
          <p:cNvSpPr/>
          <p:nvPr/>
        </p:nvSpPr>
        <p:spPr>
          <a:xfrm>
            <a:off x="411480" y="5586984"/>
            <a:ext cx="91440" cy="91440"/>
          </a:xfrm>
          <a:prstGeom prst="ellipse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6072" y="5522976"/>
            <a:ext cx="4773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np.mean, np.std, np.sqrt — statistical computation</a:t>
            </a:r>
          </a:p>
        </p:txBody>
      </p:sp>
      <p:sp>
        <p:nvSpPr>
          <p:cNvPr id="35" name="Oval 34"/>
          <p:cNvSpPr/>
          <p:nvPr/>
        </p:nvSpPr>
        <p:spPr>
          <a:xfrm>
            <a:off x="411480" y="5916168"/>
            <a:ext cx="91440" cy="91440"/>
          </a:xfrm>
          <a:prstGeom prst="ellipse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6072" y="5852160"/>
            <a:ext cx="4773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Dataclasses / OOP — clean, testable, reusable code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92608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FF66B7"/>
          </a:solidFill>
          <a:ln w="1016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EC4899"/>
                </a:solidFill>
                <a:latin typeface="Courier New"/>
              </a:rPr>
              <a:t>FRONTEND — REACT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685800"/>
            <a:ext cx="2286000" cy="36576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77240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React 18 Frontend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4813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Zero build step — CDN-only React with Babel standalone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901952"/>
            <a:ext cx="5577840" cy="1261872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 w="1016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901952"/>
            <a:ext cx="557784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9339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97316"/>
                </a:solidFill>
                <a:latin typeface="Calibri"/>
              </a:rPr>
              <a:t>NO BUILD STEP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04288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React + Babel + Three.js loaded from CDN URLs in &lt;script&gt; tags. No npm install,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69464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no webpack, no node_modules. Browser compiles JSX on the fly.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901952"/>
            <a:ext cx="5577840" cy="1261872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 w="1016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901952"/>
            <a:ext cx="5577840" cy="54864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99339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FF88"/>
                </a:solidFill>
                <a:latin typeface="Calibri"/>
              </a:rPr>
              <a:t>STATE MANAGEMENT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304288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useState hook manages: params (spot/strike/vol/rate/T/N), res (call/put prices),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569464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 busy (loading state). setParams triggers re-render, runSim recomputes everything.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3291840"/>
            <a:ext cx="5577840" cy="1261872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3291840"/>
            <a:ext cx="557784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38328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SIDE EFFECTS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694176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useEffect runs Three.js scene setup once on mount. Returns cleanup function that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95935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 destroys WebGL context when component unmounts. Proper memory management.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3291840"/>
            <a:ext cx="5577840" cy="1261872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 w="1016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80" y="3291840"/>
            <a:ext cx="5577840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38328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855F7"/>
                </a:solidFill>
                <a:latin typeface="Calibri"/>
              </a:rPr>
              <a:t>PERFORMANCE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694176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useCallback memoizes runSim so it doesn't recreate on every render. setTimeout(f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95935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n, 30) prevents UI freeze during Monte Carlo loop. Chart.js destroyed &amp; recreated on each sim.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4773168"/>
            <a:ext cx="11338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Component Tree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5074920"/>
            <a:ext cx="11338560" cy="1481328"/>
          </a:xfrm>
          <a:prstGeom prst="rect">
            <a:avLst/>
          </a:prstGeom>
          <a:solidFill>
            <a:srgbClr val="050D1E"/>
          </a:solidFill>
          <a:ln w="95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l"/>
            <a:r>
              <a:rPr sz="1000">
                <a:solidFill>
                  <a:srgbClr val="00FF88"/>
                </a:solidFill>
                <a:latin typeface="Courier New"/>
              </a:rPr>
              <a:t>&lt;App&gt;  — manages all state, runs simulation, owns scene3d ref
  &lt;Slider&gt;       — reusable range input with fill bar &amp; live value
  &lt;AnimNum&gt;      — GSAP-animated number that tweens from old → new value
  &lt;ChartPanel&gt;   — 3 Chart.js charts in tabbed view (Payoff/Dist/Paths)
  &lt;SuggestionsPanel&gt;  — 5 analysis cards using computed Greeks &amp; signals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92608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1EF2FF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0D4FF"/>
                </a:solidFill>
                <a:latin typeface="Courier New"/>
              </a:rPr>
              <a:t>FRONTEND — THREE.JS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685800"/>
            <a:ext cx="22860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77240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Three.js 3D Background Scene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4813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WebGL-powered live 3D canvas — runs at 60fps behind the UI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901952"/>
            <a:ext cx="5577840" cy="1261872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 w="1016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901952"/>
            <a:ext cx="5577840" cy="54864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9339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FF88"/>
                </a:solidFill>
                <a:latin typeface="Calibri"/>
              </a:rPr>
              <a:t>⭐ STAR FIELD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04288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4,000 random points in 3D space. BufferGeometry with Float32Array positions. PointsMa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69464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terial for tiny white dots. Slowly rotates on X and Y axes.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901952"/>
            <a:ext cx="5577840" cy="1261872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901952"/>
            <a:ext cx="557784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99339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◈ WIREFRAME ORBS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304288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3 IcosahedronGeometry meshes (10r, 6r, 3r). MeshBasicMaterial wireframe=true. Each 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569464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tates at different speeds creating depth illusion.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3291840"/>
            <a:ext cx="5577840" cy="1261872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 w="1016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3291840"/>
            <a:ext cx="5577840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38328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855F7"/>
                </a:solidFill>
                <a:latin typeface="Calibri"/>
              </a:rPr>
              <a:t>○ TORUS 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694176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TorusGeometry(14, 0.06) — thin glowing ring. Tilted at π/2.8 radians. Rotates on Z ax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95935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is. Represents the 'orbital' theme.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3291840"/>
            <a:ext cx="5577840" cy="1261872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 w="1016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80" y="3291840"/>
            <a:ext cx="557784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38328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97316"/>
                </a:solidFill>
                <a:latin typeface="Calibri"/>
              </a:rPr>
              <a:t>● COLORED ORBS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694176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7 small spheres in brand colors. Float up/down using sin() wave per orb. Each has a 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95935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andom phase offset so they don't sync.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" y="4681728"/>
            <a:ext cx="5577840" cy="1261872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 w="1016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1480" y="4681728"/>
            <a:ext cx="5577840" cy="54864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773168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C4899"/>
                </a:solidFill>
                <a:latin typeface="Calibri"/>
              </a:rPr>
              <a:t>〜 GBM PATH TUBES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084064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22 CatmullRomCurve3 paths through 3D space. TubeGeometry wraps each curve. Rebuilt 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34924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 every simulation with new random GBM data. Colors match brand palette.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55080" y="4681728"/>
            <a:ext cx="5577840" cy="1261872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55080" y="4681728"/>
            <a:ext cx="5577840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4773168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📷 CAMERA DRIFT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5084064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Camera orbits lazily: position.x = sin(t×0.065)×4.5. position.y = sin(t×0.048)×2.8. 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534924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ookAt(0,0,0) always. Creates cinematic depth with no user input.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626364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Fog: FogExp2(0x030712, 0.016) — distant objects fade into background · FPS: requestAnimationFrame loop · Pixel ratio: min(devicePixelRatio, 2)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92608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FF66B7"/>
          </a:solidFill>
          <a:ln w="1016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EC4899"/>
                </a:solidFill>
                <a:latin typeface="Courier New"/>
              </a:rPr>
              <a:t>FRONTEND — GSAP + CHART.JS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685800"/>
            <a:ext cx="2286000" cy="36576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77240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GSAP Animations &amp; Chart.js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4813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Smooth motion design + interactive data visualisation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901952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C4899"/>
                </a:solidFill>
                <a:latin typeface="Calibri"/>
              </a:rPr>
              <a:t>GSAP — GreenSock Animation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2402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C4899"/>
                </a:solidFill>
                <a:latin typeface="Calibri"/>
              </a:rPr>
              <a:t>• Entrance animations: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1800" y="2240280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Header slides from top (y:-44→0). Control panel slides from left. Results/charts slide from right. Staggered delays = professional feel.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6090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C4899"/>
                </a:solidFill>
                <a:latin typeface="Calibri"/>
              </a:rPr>
              <a:t>• AnimNum component: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2660904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gsap.to(obj, {v: newValue}) tweens a plain JS object. onUpdate writes to DOM via ref. Number smoothly counts from old price to new price.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08152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C4899"/>
                </a:solidFill>
                <a:latin typeface="Calibri"/>
              </a:rPr>
              <a:t>• Card reveal: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3081528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gsap.fromTo('.opt-card', {y:10, opacity:0}, {y:0, opacity:1, stagger:0.07}) — each card enters with a slight cascade delay.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50215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C4899"/>
                </a:solidFill>
                <a:latin typeface="Calibri"/>
              </a:rPr>
              <a:t>• Button feedback: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3502152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gsap.to('.run-btn', {scale:0.95, yoyo:true, repeat:1}) — micro-interaction on click. Feels physical and responsive.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89320" y="1901952"/>
            <a:ext cx="36576" cy="43891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1901952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Calibri"/>
              </a:rPr>
              <a:t>Chart.js — 3 Interactive Chart Types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2267712"/>
            <a:ext cx="5715000" cy="1207008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2267712"/>
            <a:ext cx="571500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2359152"/>
            <a:ext cx="5440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PAYOFF CHART (Line)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2670048"/>
            <a:ext cx="5440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Call &amp; put P&amp;L curves across all possible stock prices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2935224"/>
            <a:ext cx="5440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X-axis: terminal price  Y-axis: P&amp;L in dollars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3200400"/>
            <a:ext cx="5440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Custom vlinePlugin draws vertical strike &amp; spot markers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3465576"/>
            <a:ext cx="5440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Zero-line shows break-even visually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3566160"/>
            <a:ext cx="5715000" cy="1207008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 w="1016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80" y="3566160"/>
            <a:ext cx="5715000" cy="54864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63640" y="3657600"/>
            <a:ext cx="5440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FF88"/>
                </a:solidFill>
                <a:latin typeface="Calibri"/>
              </a:rPr>
              <a:t>DISTRIBUTION (Bar)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3968496"/>
            <a:ext cx="5440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6,000 simulated terminal prices binned into histogram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4233672"/>
            <a:ext cx="5440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Green bars: ITM for call  |  Orange bars: ITM for 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4498848"/>
            <a:ext cx="5440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Shows the probability distribution of outcomes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4764024"/>
            <a:ext cx="5440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You can literally see your odds of profit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26480" y="4864608"/>
            <a:ext cx="5715000" cy="1207008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 w="1016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26480" y="4864608"/>
            <a:ext cx="5715000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63640" y="4956048"/>
            <a:ext cx="5440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855F7"/>
                </a:solidFill>
                <a:latin typeface="Calibri"/>
              </a:rPr>
              <a:t>GBM PATHS (Line)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5266944"/>
            <a:ext cx="5440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22 individual simulated stock price journeys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5532120"/>
            <a:ext cx="5440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Each path is a full GBM simulation with 80 time steps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5797296"/>
            <a:ext cx="5440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Shows the 'fan' of possible futures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6062472"/>
            <a:ext cx="5440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Strike shown as dashed line — you can see ITM vs OTM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92608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1EFFA6"/>
          </a:solidFill>
          <a:ln w="1016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0FF88"/>
                </a:solidFill>
                <a:latin typeface="Courier New"/>
              </a:rPr>
              <a:t>DEPLOYMENT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685800"/>
            <a:ext cx="2286000" cy="36576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77240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Git, GitHub &amp; Vercel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4813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From local code to live website in under 30 seconds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901952"/>
            <a:ext cx="1828800" cy="475488"/>
          </a:xfrm>
          <a:prstGeom prst="roundRect">
            <a:avLst>
              <a:gd name="adj" fmla="val 25000"/>
            </a:avLst>
          </a:prstGeom>
          <a:solidFill>
            <a:srgbClr val="0F172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901952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Write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76272" y="1938528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77440" y="1901952"/>
            <a:ext cx="1828800" cy="475488"/>
          </a:xfrm>
          <a:prstGeom prst="roundRect">
            <a:avLst>
              <a:gd name="adj" fmla="val 25000"/>
            </a:avLst>
          </a:prstGeom>
          <a:solidFill>
            <a:srgbClr val="0F172A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77440" y="1901952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FF88"/>
                </a:solidFill>
                <a:latin typeface="Calibri"/>
              </a:rPr>
              <a:t>git add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42232" y="1938528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901952"/>
            <a:ext cx="1828800" cy="475488"/>
          </a:xfrm>
          <a:prstGeom prst="roundRect">
            <a:avLst>
              <a:gd name="adj" fmla="val 25000"/>
            </a:avLst>
          </a:prstGeom>
          <a:solidFill>
            <a:srgbClr val="0F172A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1901952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FF88"/>
                </a:solidFill>
                <a:latin typeface="Calibri"/>
              </a:rPr>
              <a:t>git commit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08192" y="1938528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901952"/>
            <a:ext cx="1828800" cy="475488"/>
          </a:xfrm>
          <a:prstGeom prst="roundRect">
            <a:avLst>
              <a:gd name="adj" fmla="val 25000"/>
            </a:avLst>
          </a:prstGeom>
          <a:solidFill>
            <a:srgbClr val="0F172A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901952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D4FF"/>
                </a:solidFill>
                <a:latin typeface="Calibri"/>
              </a:rPr>
              <a:t>git push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74152" y="1938528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75320" y="1901952"/>
            <a:ext cx="1828800" cy="475488"/>
          </a:xfrm>
          <a:prstGeom prst="roundRect">
            <a:avLst>
              <a:gd name="adj" fmla="val 25000"/>
            </a:avLst>
          </a:prstGeom>
          <a:solidFill>
            <a:srgbClr val="0F172A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1901952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A855F7"/>
                </a:solidFill>
                <a:latin typeface="Calibri"/>
              </a:rPr>
              <a:t>vercel deploy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40112" y="1938528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241280" y="1901952"/>
            <a:ext cx="1828800" cy="475488"/>
          </a:xfrm>
          <a:prstGeom prst="roundRect">
            <a:avLst>
              <a:gd name="adj" fmla="val 25000"/>
            </a:avLst>
          </a:prstGeom>
          <a:solidFill>
            <a:srgbClr val="0F172A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41280" y="1901952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97316"/>
                </a:solidFill>
                <a:latin typeface="Calibri"/>
              </a:rPr>
              <a:t>Live on Web!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2514600"/>
            <a:ext cx="5577840" cy="182880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 w="1016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" y="2514600"/>
            <a:ext cx="5577840" cy="54864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260604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FF88"/>
                </a:solidFill>
                <a:latin typeface="Calibri"/>
              </a:rPr>
              <a:t>GIT — VERSION CONTROL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2916936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git init — start tracking your project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318211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git add &lt;file&gt; — stage specific changes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447288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git commit -m 'message' — save a checkpoint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3712464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git push — upload to GitHub cloud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397764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git log — see full history of changes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242816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Every commit has: author, timestamp, message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55080" y="2514600"/>
            <a:ext cx="5577840" cy="182880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55080" y="2514600"/>
            <a:ext cx="557784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260604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VERCEL — STATIC HOSTING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2916936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vercel.json: sets framework=null, outputDirectory='.'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318211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Tells Vercel: 'serve index.html as static site'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3447288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vercel deploy --prod: uploads files to CDN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3712464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Aliased to montecarloengine.vercel.app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397764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Edge network: fast worldwide delivery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4242816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Free tier: unlimited static deploys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11480" y="4480560"/>
            <a:ext cx="5577840" cy="182880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 w="1016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11480" y="4480560"/>
            <a:ext cx="5577840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457200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855F7"/>
                </a:solidFill>
                <a:latin typeface="Calibri"/>
              </a:rPr>
              <a:t>GITHUB — CODE HOSTING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4882896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Remote repository: stores code in the cloud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514807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gh auth login: authenticate CLI to GitHub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5413248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gh auth setup-git: enables HTTPS push via token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5678424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git config user.email: ties commits to your account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594360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Public repo: anyone can view &amp; fork the code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6208776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Connected to Vercel for auto-deploy on push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355080" y="4480560"/>
            <a:ext cx="5577840" cy="182880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 w="1016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355080" y="4480560"/>
            <a:ext cx="557784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92240" y="457200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97316"/>
                </a:solidFill>
                <a:latin typeface="Calibri"/>
              </a:rPr>
              <a:t>ARCHITECTURE CHOICES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92240" y="4882896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No Node.js needed: CDN-only frontend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92240" y="514807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Single file: entire app = one index.html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92240" y="5413248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No database: all computation in-browser JS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92240" y="5678424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No server: pure static = zero hosting cost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92240" y="594360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No build pipeline: ship HTML directly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92240" y="6208776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Babel standalone: JSX compiled in browser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92608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C673FF"/>
          </a:solidFill>
          <a:ln w="1016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A855F7"/>
                </a:solidFill>
                <a:latin typeface="Courier New"/>
              </a:rPr>
              <a:t>ANALYSIS ENGINE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685800"/>
            <a:ext cx="2286000" cy="3657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77240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The Suggestions &amp; Analysis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4813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5 smart cards computed from your simulation results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901952"/>
            <a:ext cx="11338560" cy="896112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 w="1016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901952"/>
            <a:ext cx="11338560" cy="54864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93392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FF88"/>
                </a:solidFill>
                <a:latin typeface="Calibri"/>
              </a:rPr>
              <a:t>MONEYNESS GAUGE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04288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Compares Spot vs Strike: (S/K - 1) × 100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69464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&lt; -15% → Deep OTM (needs big move)  |  ±2% → ATM (highest gamma)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834640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&gt; +15% → Deep ITM (behaves like stock). Needle on gradient bar shows position.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2871216"/>
            <a:ext cx="11338560" cy="896112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2871216"/>
            <a:ext cx="1133856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962656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OPTION SENSITIVITY (GREEKS)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273552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Uses Black-Scholes closed-form to compute Δ,Γ,Θ,ν in real time.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538728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Displayed in plain English: 'If stock goes up $1, call gains $X'.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803904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normalCDF and normalPDF implemented from scratch (Abramowitz &amp; Stegun approx).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3840480"/>
            <a:ext cx="11338560" cy="896112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 w="1016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3840480"/>
            <a:ext cx="1133856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931920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97316"/>
                </a:solidFill>
                <a:latin typeface="Calibri"/>
              </a:rPr>
              <a:t>BREAKEVEN PRICES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242816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Call breakeven = Strike + Call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507992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Put  breakeven = Strike - Put  Premium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773168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Shows % move needed from current spot. Trader's most important number.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" y="4809744"/>
            <a:ext cx="11338560" cy="896112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 w="1016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1480" y="4809744"/>
            <a:ext cx="11338560" cy="54864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901184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C4899"/>
                </a:solidFill>
                <a:latin typeface="Calibri"/>
              </a:rPr>
              <a:t>STRATEGY SIGNAL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212080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Rule-based engine using vol regime + moneyness: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477256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Vol &gt; 50% → Sell Straddle  |  Vol &lt; 15% → Buy Straddle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742432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ITM &gt; 10% → Covered Call  |  OTM &gt; 10% → Bull Call Spread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007608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Near ATM → Iron Condor. Each has plain-English reasoning.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1480" y="5779008"/>
            <a:ext cx="11338560" cy="896112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 w="1016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11480" y="5779008"/>
            <a:ext cx="11338560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5870448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855F7"/>
                </a:solidFill>
                <a:latin typeface="Calibri"/>
              </a:rPr>
              <a:t>RISK SCORE 1–10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181344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Composite score: vol × 11 + |moneyness|/14 + maturity × 0.4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46520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Clamped to 1–10 range. Color: green=low, blue=medium, orange=high, pink=extreme.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711696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10 bar segments fill up with risk color. Instantly readable risk level.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92608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1EFFA6"/>
          </a:solidFill>
          <a:ln w="1016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0FF88"/>
                </a:solidFill>
                <a:latin typeface="Courier New"/>
              </a:rPr>
              <a:t>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685800"/>
            <a:ext cx="2286000" cy="36576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77240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Everything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4813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The full stack — finance → math → code → deployment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901952"/>
            <a:ext cx="2286000" cy="402336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 w="1016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901952"/>
            <a:ext cx="2286000" cy="54864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99339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FF88"/>
                </a:solidFill>
                <a:latin typeface="Calibri"/>
              </a:rPr>
              <a:t>FINANCE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04288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European Call &amp; Put options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69464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Intrinsic value vs time value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3464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Moneyness: ITM/ATM/OTM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099816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Put-Call Parity no-arbitrage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36499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Strategy signals &amp; breakevens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97480" y="1901952"/>
            <a:ext cx="2286000" cy="402336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97480" y="1901952"/>
            <a:ext cx="228600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34640" y="199339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MATH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2304288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Monte Carlo simulation (N=50k)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2569464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Geometric Brownian Motion (GBM)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283464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Box-Muller Normal sampling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3099816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Itô Lemma drift correction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336499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Black-Scholes Greeks: Δ,Γ,Θ,ν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74920" y="1901952"/>
            <a:ext cx="2286000" cy="402336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 w="1016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74920" y="1901952"/>
            <a:ext cx="2286000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12080" y="199339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855F7"/>
                </a:solidFill>
                <a:latin typeface="Calibri"/>
              </a:rPr>
              <a:t>PYTHON BACKEND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0" y="2304288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Pydantic models for validation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80" y="2569464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NumPy vectorized simulation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80" y="283464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OptionPricer OOP class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80" y="3099816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Standard error &amp; 95% CI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80" y="336499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PYTHONPATH module structure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52360" y="1901952"/>
            <a:ext cx="2286000" cy="402336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 w="1016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452360" y="1901952"/>
            <a:ext cx="228600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89520" y="199339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97316"/>
                </a:solidFill>
                <a:latin typeface="Calibri"/>
              </a:rPr>
              <a:t>REACT FRONTEND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0" y="2304288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useState / useEffect / useRef hooks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9520" y="2569464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GSAP number tweening &amp; entrances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89520" y="283464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Three.js WebGL 3D scene at 60fps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89520" y="3099816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Chart.js: Payoff, Dist, Paths charts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89520" y="336499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CDN-only, zero-build architecture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829800" y="1901952"/>
            <a:ext cx="2286000" cy="402336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 w="1016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829800" y="1901952"/>
            <a:ext cx="2286000" cy="54864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966960" y="199339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C4899"/>
                </a:solidFill>
                <a:latin typeface="Calibri"/>
              </a:rPr>
              <a:t>DEPLOYMENT STACK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66960" y="2304288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Git version control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66960" y="2569464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GitHub remote repository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966960" y="283464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gh CLI authentication &amp; push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66960" y="3099816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vercel.json static site config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66960" y="336499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montecarloengine.vercel.app live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1480" y="6080760"/>
            <a:ext cx="11338560" cy="36576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480" y="614476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ourier New"/>
              </a:rPr>
              <a:t>github.com/coolaeidek-creator/montecarlo_engine  ·  Live: montecarloengine.vercel.app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